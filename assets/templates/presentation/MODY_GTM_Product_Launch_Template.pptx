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2735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548640"/>
            <a:ext cx="7863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500" b="1" dirty="0">
                <a:solidFill>
                  <a:srgbClr val="4A4A4A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PRODUCT LAUNCH</a:t>
            </a:r>
            <a:endParaRPr lang="en-US" sz="5500" dirty="0"/>
          </a:p>
        </p:txBody>
      </p:sp>
      <p:sp>
        <p:nvSpPr>
          <p:cNvPr id="3" name="Text 1"/>
          <p:cNvSpPr/>
          <p:nvPr/>
        </p:nvSpPr>
        <p:spPr>
          <a:xfrm>
            <a:off x="320040" y="4160520"/>
            <a:ext cx="7863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5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PRODUCT LAUNCH</a:t>
            </a:r>
            <a:endParaRPr lang="en-US" sz="5500" dirty="0"/>
          </a:p>
        </p:txBody>
      </p:sp>
      <p:sp>
        <p:nvSpPr>
          <p:cNvPr id="4" name="Text 2"/>
          <p:cNvSpPr/>
          <p:nvPr/>
        </p:nvSpPr>
        <p:spPr>
          <a:xfrm>
            <a:off x="8183880" y="201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348472" y="260604"/>
            <a:ext cx="64008" cy="64008"/>
          </a:xfrm>
          <a:prstGeom prst="diamond">
            <a:avLst/>
          </a:prstGeom>
          <a:solidFill>
            <a:srgbClr val="9E1519"/>
          </a:solidFill>
          <a:ln w="12700">
            <a:solidFill>
              <a:srgbClr val="9E151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7178040" y="28712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INTERNAL GTM DECK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20840" y="3054727"/>
            <a:ext cx="1874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85000" lnSpcReduction="10000"/>
          </a:bodyPr>
          <a:lstStyle/>
          <a:p>
            <a:pPr marL="0" indent="0" algn="r">
              <a:buNone/>
            </a:pPr>
            <a:r>
              <a:rPr lang="en-US" sz="12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[Product name / Category]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42310" y="3205866"/>
            <a:ext cx="2240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BDBDBD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[One sentence launch definition]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69480" y="25146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MARKETING PLAN FOR</a:t>
            </a:r>
            <a:endParaRPr lang="en-US" sz="820" dirty="0"/>
          </a:p>
          <a:p>
            <a:pPr marL="0" indent="0" algn="r">
              <a:buNone/>
            </a:pPr>
            <a:r>
              <a:rPr lang="en-US" sz="82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STAKEHOLDERS OR</a:t>
            </a:r>
            <a:endParaRPr lang="en-US" sz="820" dirty="0"/>
          </a:p>
          <a:p>
            <a:pPr marL="0" indent="0" algn="r">
              <a:buNone/>
            </a:pPr>
            <a:r>
              <a:rPr lang="en-US" sz="82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INTERNAL TEAM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685800" y="6291072"/>
            <a:ext cx="7818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PRODUCT LAUNCH          PRODUCT LAUNCH          PRODUCT LAUNCH          PRODUCT LAUNCH          PRODUCT LAUNCH          PRODUCT LAUNCH          PRODUCT LAUNCH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8600" y="629107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27432"/>
            <a:ext cx="8732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300" b="1" dirty="0">
                <a:solidFill>
                  <a:srgbClr val="4A4A4A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PRODUCT OVERVIEW</a:t>
            </a:r>
            <a:endParaRPr lang="en-US" sz="53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01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PRODUCT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83880" y="201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348472" y="260604"/>
            <a:ext cx="64008" cy="64008"/>
          </a:xfrm>
          <a:prstGeom prst="diamond">
            <a:avLst/>
          </a:prstGeom>
          <a:solidFill>
            <a:srgbClr val="9E1519"/>
          </a:solidFill>
          <a:ln w="12700">
            <a:solidFill>
              <a:srgbClr val="9E151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85800" y="6291072"/>
            <a:ext cx="7818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PRODUCT OVERVIEW          PRODUCT OVERVIEW          PRODUCT OVERVIEW          PRODUCT OVERVIEW          PRODUCT OVERVIEW          PRODUCT OVERVIEW          PRODUCT OVERVIEW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629107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591056"/>
            <a:ext cx="2743200" cy="3429000"/>
          </a:xfrm>
          <a:prstGeom prst="rect">
            <a:avLst/>
          </a:prstGeom>
          <a:solidFill>
            <a:srgbClr val="111111">
              <a:alpha val="92000"/>
            </a:srgbClr>
          </a:solidFill>
          <a:ln w="15240">
            <a:solidFill>
              <a:srgbClr val="5A5A5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804672" y="3140964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PRODUCT IMAGE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3415284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BDBDBD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Hero / Lifestyle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94760" y="162763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WHAT ARE WE LAUNCHING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94760" y="2157984"/>
            <a:ext cx="26517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Product name: [ ]</a:t>
            </a:r>
            <a:endParaRPr lang="en-US" sz="1650" dirty="0"/>
          </a:p>
          <a:p>
            <a:pPr marL="0" indent="0" algn="l">
              <a:buNone/>
            </a:pPr>
            <a:r>
              <a:rPr lang="en-US" sz="16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Brand / Collection: [ ]</a:t>
            </a:r>
            <a:endParaRPr lang="en-US" sz="1650" dirty="0"/>
          </a:p>
          <a:p>
            <a:pPr marL="0" indent="0" algn="l">
              <a:buNone/>
            </a:pPr>
            <a:r>
              <a:rPr lang="en-US" sz="16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Category: [ ]</a:t>
            </a:r>
            <a:endParaRPr lang="en-US" sz="1650" dirty="0"/>
          </a:p>
          <a:p>
            <a:pPr marL="0" indent="0" algn="l">
              <a:buNone/>
            </a:pPr>
            <a:r>
              <a:rPr lang="en-US" sz="16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Model / SKU: [ ]</a:t>
            </a:r>
            <a:endParaRPr lang="en-US" sz="1650" dirty="0"/>
          </a:p>
          <a:p>
            <a:pPr marL="0" indent="0" algn="l">
              <a:buNone/>
            </a:pPr>
            <a:r>
              <a:rPr lang="en-US" sz="16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Launch status: [ ]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492240" y="162763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KEY PRODUCT FACTS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1975104"/>
            <a:ext cx="1965960" cy="1353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Verified fact #1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Verified fact #2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Verified fact #3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Price tier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Availability / lead time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3794760" y="3474720"/>
            <a:ext cx="4663440" cy="0"/>
          </a:xfrm>
          <a:prstGeom prst="line">
            <a:avLst/>
          </a:prstGeom>
          <a:noFill/>
          <a:ln w="1016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3794760" y="37307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ONE-LINER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794760" y="4050792"/>
            <a:ext cx="46634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[Short sentence that explains what the product is and why it matters for launch]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"/>
            <a:ext cx="8732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0" b="1" dirty="0">
                <a:solidFill>
                  <a:srgbClr val="4A4A4A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POSITIONING</a:t>
            </a:r>
            <a:endParaRPr lang="en-US" sz="65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001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POSITIONING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83880" y="201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348472" y="260604"/>
            <a:ext cx="64008" cy="64008"/>
          </a:xfrm>
          <a:prstGeom prst="diamond">
            <a:avLst/>
          </a:prstGeom>
          <a:solidFill>
            <a:srgbClr val="9E1519"/>
          </a:solidFill>
          <a:ln w="12700">
            <a:solidFill>
              <a:srgbClr val="9E151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85800" y="6291072"/>
            <a:ext cx="7818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POSITIONING          POSITIONING          POSITIONING          POSITIONING          POSITIONING          POSITIONING          POSITIONING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629107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" y="190195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1.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50976" y="2118675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CORE POSITIONING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0976" y="2386584"/>
            <a:ext cx="224028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[How the product is positioned within MODY’s premium world]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227832" y="263347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2.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301752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3250745"/>
            <a:ext cx="224028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[The added value beyond basic function for the customer / designer]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925312" y="336499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3.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72784" y="3752193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DIFFERENTIATOR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72784" y="3971649"/>
            <a:ext cx="2057400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[What makes it different from similar products and why now]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315468" y="1835211"/>
            <a:ext cx="502920" cy="502920"/>
          </a:xfrm>
          <a:prstGeom prst="arc">
            <a:avLst/>
          </a:prstGeom>
          <a:solidFill>
            <a:srgbClr val="000000">
              <a:alpha val="0"/>
            </a:srgbClr>
          </a:solidFill>
          <a:ln w="25400">
            <a:solidFill>
              <a:srgbClr val="5A5A5A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2976372" y="2555695"/>
            <a:ext cx="502920" cy="502920"/>
          </a:xfrm>
          <a:prstGeom prst="arc">
            <a:avLst/>
          </a:prstGeom>
          <a:solidFill>
            <a:srgbClr val="000000">
              <a:alpha val="0"/>
            </a:srgbClr>
          </a:solidFill>
          <a:ln w="25400">
            <a:solidFill>
              <a:srgbClr val="5A5A5A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5673852" y="3305556"/>
            <a:ext cx="502920" cy="502920"/>
          </a:xfrm>
          <a:prstGeom prst="arc">
            <a:avLst/>
          </a:prstGeom>
          <a:solidFill>
            <a:srgbClr val="000000">
              <a:alpha val="0"/>
            </a:srgbClr>
          </a:solidFill>
          <a:ln w="25400">
            <a:solidFill>
              <a:srgbClr val="5A5A5A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27432"/>
            <a:ext cx="8732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500" b="1" dirty="0">
                <a:solidFill>
                  <a:srgbClr val="4A4A4A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TARGET AUDIENCE</a:t>
            </a:r>
            <a:endParaRPr lang="en-US" sz="55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8001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TARGET AUDIENCE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83880" y="201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348472" y="260604"/>
            <a:ext cx="64008" cy="64008"/>
          </a:xfrm>
          <a:prstGeom prst="diamond">
            <a:avLst/>
          </a:prstGeom>
          <a:solidFill>
            <a:srgbClr val="9E1519"/>
          </a:solidFill>
          <a:ln w="12700">
            <a:solidFill>
              <a:srgbClr val="9E151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85800" y="6291072"/>
            <a:ext cx="7818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TARGET AUDIENCE          TARGET AUDIENCE          TARGET AUDIENCE          TARGET AUDIENCE          TARGET AUDIENCE          TARGET AUDIENCE          TARGET AUDIENCE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629107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PRIVATE CUSTOMER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270248"/>
            <a:ext cx="2240280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Building or renovating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Looks for quality and finish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Chooses by premium feel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Notices small details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74720" y="397764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ARCHITECT / DESIGNER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4270248"/>
            <a:ext cx="2240280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Completes a design concept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Needs coherent design language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Requires verified information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Easy to explain to client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126480" y="397764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SALES / SHOWROOM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26480" y="4270248"/>
            <a:ext cx="2148840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Who to recommend it to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How to open the conversation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What to emphasize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What not to say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59536" y="359359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11296" y="359359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63056" y="359359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03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27432"/>
            <a:ext cx="8732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4A4A4A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BRAND MESSAGING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8001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BRAND MESSAGING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83880" y="201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348472" y="260604"/>
            <a:ext cx="64008" cy="64008"/>
          </a:xfrm>
          <a:prstGeom prst="diamond">
            <a:avLst/>
          </a:prstGeom>
          <a:solidFill>
            <a:srgbClr val="9E1519"/>
          </a:solidFill>
          <a:ln w="12700">
            <a:solidFill>
              <a:srgbClr val="9E151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85800" y="6291072"/>
            <a:ext cx="7818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BRAND MESSAGING          BRAND MESSAGING          BRAND MESSAGING          BRAND MESSAGING          BRAND MESSAGING          BRAND MESSAGING          BRAND MESSAGING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629107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27632" y="171907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1.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169164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CORE MESSAGE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1984248"/>
            <a:ext cx="56692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[The product’s core message in one sentence]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627632" y="277063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2.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274320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TONE OF VOICE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3035808"/>
            <a:ext cx="56692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[Elegant / precise / clean / professional / premium / confident]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627632" y="382219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3.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11680" y="379476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4087368"/>
            <a:ext cx="56692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1. [Benefit #1]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2. [Benefit #2]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3. [Benefit #3]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627632" y="50292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4.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11680" y="5001768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DO / DON'T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11680" y="5294376"/>
            <a:ext cx="5669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[What to say]  |  [What not to say / forbidden claims]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27432"/>
            <a:ext cx="8732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4A4A4A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PRODUCT STORY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8001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PRODUCT STORY &amp; KEY BENEFITS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183880" y="201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348472" y="260604"/>
            <a:ext cx="64008" cy="64008"/>
          </a:xfrm>
          <a:prstGeom prst="diamond">
            <a:avLst/>
          </a:prstGeom>
          <a:solidFill>
            <a:srgbClr val="9E1519"/>
          </a:solidFill>
          <a:ln w="12700">
            <a:solidFill>
              <a:srgbClr val="9E151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85800" y="6291072"/>
            <a:ext cx="7818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PRODUCT STORY &amp; KEY BENEFITS          PRODUCT STORY &amp; KEY BENEFITS          PRODUCT STORY &amp; KEY BENEFITS          PRODUCT STORY &amp; KEY BENEFITS          PRODUCT STORY &amp; KEY BENEFITS          PRODUCT STORY &amp; KEY BENEFITS          PRODUCT STORY &amp; KEY BENEFITS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629107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1828800" cy="2468880"/>
          </a:xfrm>
          <a:prstGeom prst="rect">
            <a:avLst/>
          </a:prstGeom>
          <a:solidFill>
            <a:srgbClr val="111111">
              <a:alpha val="92000"/>
            </a:srgbClr>
          </a:solidFill>
          <a:ln w="15240">
            <a:solidFill>
              <a:srgbClr val="5A5A5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850392" y="289864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VISUAL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0392" y="317296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BDBDBD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Product / detail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71800" y="178308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THE STORY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71800" y="2075688"/>
            <a:ext cx="187452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[The story of the product / collection. Why it exists and what feeling it creates in the space]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983480" y="2240280"/>
            <a:ext cx="384048" cy="384048"/>
          </a:xfrm>
          <a:prstGeom prst="chevron">
            <a:avLst/>
          </a:prstGeom>
          <a:solidFill>
            <a:srgbClr val="5A5A5A"/>
          </a:solidFill>
          <a:ln w="12700">
            <a:solidFill>
              <a:srgbClr val="5A5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5440680" y="224028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FACT → BENEFIT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40680" y="2532888"/>
            <a:ext cx="242316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[Technical fact / material / finish]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→ [Design or functional benefit]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931920" y="4023360"/>
            <a:ext cx="384048" cy="384048"/>
          </a:xfrm>
          <a:prstGeom prst="chevron">
            <a:avLst/>
          </a:prstGeom>
          <a:solidFill>
            <a:srgbClr val="5A5A5A"/>
          </a:solidFill>
          <a:ln w="12700">
            <a:solidFill>
              <a:srgbClr val="5A5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4434840" y="3886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3 KEY BENEFITS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34840" y="4178808"/>
            <a:ext cx="320040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1. [Benefit #1]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2. [Benefit #2]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3. [Benefit #3]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27432"/>
            <a:ext cx="8732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4A4A4A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SELLER CHEAT SHEET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8001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SELLER CHEAT SHEET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183880" y="201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348472" y="260604"/>
            <a:ext cx="64008" cy="64008"/>
          </a:xfrm>
          <a:prstGeom prst="diamond">
            <a:avLst/>
          </a:prstGeom>
          <a:solidFill>
            <a:srgbClr val="9E1519"/>
          </a:solidFill>
          <a:ln w="12700">
            <a:solidFill>
              <a:srgbClr val="9E151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85800" y="6291072"/>
            <a:ext cx="7818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SELLER CHEAT SHEET          SELLER CHEAT SHEET          SELLER CHEAT SHEET          SELLER CHEAT SHEET          SELLER CHEAT SHEET          SELLER CHEAT SHEET          SELLER CHEAT SHEET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629107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0" b="1" dirty="0">
                <a:solidFill>
                  <a:srgbClr val="5A5A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</a:t>
            </a:r>
            <a:endParaRPr lang="en-US" sz="8400" dirty="0"/>
          </a:p>
        </p:txBody>
      </p:sp>
      <p:sp>
        <p:nvSpPr>
          <p:cNvPr id="10" name="Text 8"/>
          <p:cNvSpPr/>
          <p:nvPr/>
        </p:nvSpPr>
        <p:spPr>
          <a:xfrm>
            <a:off x="1783080" y="28346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WHEN TO RECOMMEND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783080" y="3310128"/>
            <a:ext cx="16002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Project style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Customer type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Best-fit use case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2331720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0" b="1" dirty="0">
                <a:solidFill>
                  <a:srgbClr val="5A5A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</a:t>
            </a:r>
            <a:endParaRPr lang="en-US" sz="8400" dirty="0"/>
          </a:p>
        </p:txBody>
      </p:sp>
      <p:sp>
        <p:nvSpPr>
          <p:cNvPr id="14" name="Text 12"/>
          <p:cNvSpPr/>
          <p:nvPr/>
        </p:nvSpPr>
        <p:spPr>
          <a:xfrm>
            <a:off x="4617720" y="28346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HOW TO PRESENT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17720" y="3310128"/>
            <a:ext cx="16002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Suggested opener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Short explanation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Audience-specific emphasis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2331720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0" b="1" dirty="0">
                <a:solidFill>
                  <a:srgbClr val="5A5A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</a:t>
            </a:r>
            <a:endParaRPr lang="en-US" sz="8400" dirty="0"/>
          </a:p>
        </p:txBody>
      </p:sp>
      <p:sp>
        <p:nvSpPr>
          <p:cNvPr id="18" name="Text 16"/>
          <p:cNvSpPr/>
          <p:nvPr/>
        </p:nvSpPr>
        <p:spPr>
          <a:xfrm>
            <a:off x="7452360" y="28346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WHAT TO REMEMBER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452360" y="3310128"/>
            <a:ext cx="16002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3 must-remember points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Approved claims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Facts not to invent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27432"/>
            <a:ext cx="8732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4A4A4A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LAUNCH PLAN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8001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LAUNCH 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83880" y="201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348472" y="260604"/>
            <a:ext cx="64008" cy="64008"/>
          </a:xfrm>
          <a:prstGeom prst="diamond">
            <a:avLst/>
          </a:prstGeom>
          <a:solidFill>
            <a:srgbClr val="9E1519"/>
          </a:solidFill>
          <a:ln w="12700">
            <a:solidFill>
              <a:srgbClr val="9E151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85800" y="6291072"/>
            <a:ext cx="7818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LAUNCH PLAN          LAUNCH PLAN          LAUNCH PLAN          LAUNCH PLAN          LAUNCH PLAN          LAUNCH PLAN          LAUNCH PLAN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629107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2432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ASSETS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" y="2788920"/>
            <a:ext cx="16459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Product page / landing page / images / verified spec sheet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715768" y="20116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15768" y="2432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ENABLEMENT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15768" y="2788920"/>
            <a:ext cx="16459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Seller cheat sheet / team briefing / approved messages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773168" y="20116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73168" y="2432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CHANNELS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73168" y="2788920"/>
            <a:ext cx="16459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Showroom / website / catalog / architect materials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830568" y="20116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30568" y="2432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MEASURE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30568" y="2788920"/>
            <a:ext cx="16459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Post-launch check: usage, inquiries, team questions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58368" y="4754880"/>
            <a:ext cx="7818120" cy="0"/>
          </a:xfrm>
          <a:prstGeom prst="line">
            <a:avLst/>
          </a:prstGeom>
          <a:noFill/>
          <a:ln w="1016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658368" y="5047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NEXT STEP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965960" y="5056632"/>
            <a:ext cx="58521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[Owner]  |  [Status]  |  [Launch Date]  |  [Open Decisions]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Display Extra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Hebre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665</Words>
  <Application>Microsoft Macintosh PowerPoint</Application>
  <PresentationFormat>‫הצגה על המסך (4:3)</PresentationFormat>
  <Paragraphs>151</Paragraphs>
  <Slides>8</Slides>
  <Notes>8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3" baseType="lpstr">
      <vt:lpstr>Arial</vt:lpstr>
      <vt:lpstr>Noto Sans</vt:lpstr>
      <vt:lpstr>Noto Sans Display ExtraCondensed</vt:lpstr>
      <vt:lpstr>Noto Sans Hebrew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MODY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MODY GTM Product Launch Template</dc:title>
  <dc:subject>MODY Internal GTM Product Launch Template</dc:subject>
  <dc:creator>OpenAI</dc:creator>
  <cp:lastModifiedBy>Ilana Estrin</cp:lastModifiedBy>
  <cp:revision>2</cp:revision>
  <dcterms:created xsi:type="dcterms:W3CDTF">2026-09-25T16:46:14Z</dcterms:created>
  <dcterms:modified xsi:type="dcterms:W3CDTF">2026-09-25T17:22:39Z</dcterms:modified>
</cp:coreProperties>
</file>